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FinnCenter là hệ thống học ngoại ngữ kết hợp marketplace, LMS, AI và thanh toán trực tiếp. Bài trình bày đi theo góc nhìn tác nhân và luồng nghiệp vụ.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nhanh 4 nhóm người dùng và nhóm tích hợp. Đây là khung để theo dõi các trang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nhanh marketplace: tìm theo ngôn ngữ, trình độ, mở chi tiết khóa và chỉ ra điểm chuyển đổi sang đăng nhập.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tài khoản mới mặc định là STUDENT và role quyết định khu vực được truy cập.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này là điểm vào chính của học viên. Dùng nó để dẫn sang luồng mua, học, thi và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thay đổi hiện hành: thanh toán khóa học trực tiếp qua VNPay, không trừ ví nội bộ.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hai nhánh: bài văn bản tối thiểu 3 phút và bài video có heartbeat, chống tua.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tả chuỗi giá trị hoàn chỉnh: học đủ, thi, đạt, chứng nhận, sau đó mới được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hệ thống hỗ trợ Anh, Trung, Nhật, Hàn và tiêu chí IELTS/HSK/JLPT/TOPIK tương 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Tách rõ refund là nghiệp vụ tài chính; report là nghiệp vụ chất lượng và có thể do giảng viên xem xét trước.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kỳ thi đã chuyển hoàn toàn sang bàn giấy; hệ thống chỉ quản lý thông báo, đăng ký và kết quả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theo vòng đời khóa học: tạo nội dung, kiểm tra sẵn sàng, duyệt, hoạt động, khóa/xóa có kiểm soát.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Liên kết ba việc: tạo chuẩn đầu ra, theo dõi người học, cải thiện chất lượng dựa trên báo cáo.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khái niệm doanh thu khả dụng và vì sao phải giữ tiền khi có yêu cầu rút đang xử lý.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admin là điểm kiểm soát cuối cho role giảng viên và vòng đời khóa học.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nhóm nghiệp vụ ngoại lệ: tiền, khiếu nại và report. Trọng tâm là kiểm tra trước quyết định và lưu vết sau quyết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nhóm admin bằng góc nhìn quản trị: quan sát, phát hiện vấn đề và xuất báo cáo phục vụ quyết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ranh giới: hệ thống ngoài thực thi dịch vụ, nhưng FinnCenter vẫn chịu trách nhiệm xác thực, idempotency và lưu trạng thái.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để tóm tắt: một luồng tạo giá trị cho học viên, một luồng tạo nguồn cung và một luồng phân phối doanh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demo, ưu tiên một hành trình sâu thay vì mở quá nhiều trang. Chốt bằng giá trị xuyên suốt và mời đặt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FINNCENTER · PHÂN TÍCH NGHIỆP VỤ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5288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code hiện tại · 05/08/2026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543800" y="-1325880"/>
            <a:ext cx="5577840" cy="5577840"/>
          </a:xfrm>
          <a:prstGeom prst="arc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4251960"/>
            <a:ext cx="2286000" cy="2286000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21792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FINNCENTER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nhân, chức năng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và quy trình nghiệp vụ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9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học ngoại ngữ tích hợp AI · LMS + Marketplace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trang  ·  82 API route  ·  43 mô hình dữ liệu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61772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6360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 / NGƯỜI DÙNG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461772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46360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VIÊN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5129784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148072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VIÊN / GIẢNG VIÊN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5129784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5148072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TRỊ VIÊN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6080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chuẩn bị thuyết trình · 05/08/2026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đồ tác nhân của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TOÀN HỆ THỐNG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/public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008376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61104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tác nhân có một không gian thao tác riêng, liên kết bằng dữ liệu khóa học, thanh toán, đánh giá và phê duyệt.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2542032" cy="3154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94560"/>
            <a:ext cx="64008" cy="3154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 / NGƯỜI DÙNG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67004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Khám phá · đăng ký · xác thực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33832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878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35584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công khai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3895344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8999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86791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ký / OTP / đăng nhập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407408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4119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Hồ sơ và thông báo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3383280" y="2194560"/>
            <a:ext cx="2542032" cy="3154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194560"/>
            <a:ext cx="64008" cy="3154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VIÊN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84448" y="267004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· học · thi · dùng AI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584448" y="338328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33878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13632" y="335584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và theo dõi tiến độ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3584448" y="389534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38999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13632" y="386791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· kết quả · chứng nhận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3584448" y="440740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44119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91363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tiền / báo cáo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6217920" y="2194560"/>
            <a:ext cx="2542032" cy="3154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194560"/>
            <a:ext cx="64008" cy="3154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 VIÊN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19088" y="267004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Sản xuất · vận hành · doanh thu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19088" y="338328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33878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48272" y="335584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Hồ sơ / kỳ thi bàn giấy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6419088" y="389534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38999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48272" y="386791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Khóa học · bài học · test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6419088" y="440740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44119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4827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Rút tiền / khiếu nại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9052560" y="2194560"/>
            <a:ext cx="2542032" cy="31546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052560" y="2194560"/>
            <a:ext cx="64008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53728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TRỊ VIÊN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253728" y="267004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Phê duyệt · kiểm soát · phân tích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253728" y="3383280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53728" y="33878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582912" y="335584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Lời mời · hồ sơ · khóa học</a:t>
            </a:r>
            <a:endParaRPr lang="en-US" sz="1220" dirty="0"/>
          </a:p>
        </p:txBody>
      </p:sp>
      <p:sp>
        <p:nvSpPr>
          <p:cNvPr id="61" name="Shape 59"/>
          <p:cNvSpPr/>
          <p:nvPr/>
        </p:nvSpPr>
        <p:spPr>
          <a:xfrm>
            <a:off x="9253728" y="389534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53728" y="38999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582912" y="386791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tiền · rút tiền · báo cáo</a:t>
            </a:r>
            <a:endParaRPr lang="en-US" sz="1220" dirty="0"/>
          </a:p>
        </p:txBody>
      </p:sp>
      <p:sp>
        <p:nvSpPr>
          <p:cNvPr id="64" name="Shape 62"/>
          <p:cNvSpPr/>
          <p:nvPr/>
        </p:nvSpPr>
        <p:spPr>
          <a:xfrm>
            <a:off x="9253728" y="440740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3728" y="44119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58291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và cấu hình</a:t>
            </a:r>
            <a:endParaRPr lang="en-US" sz="1220" dirty="0"/>
          </a:p>
        </p:txBody>
      </p:sp>
      <p:sp>
        <p:nvSpPr>
          <p:cNvPr id="67" name="Shape 65"/>
          <p:cNvSpPr/>
          <p:nvPr/>
        </p:nvSpPr>
        <p:spPr>
          <a:xfrm>
            <a:off x="1143000" y="5623560"/>
            <a:ext cx="9921240" cy="512064"/>
          </a:xfrm>
          <a:prstGeom prst="roundRect">
            <a:avLst>
              <a:gd name="adj" fmla="val 8929"/>
            </a:avLst>
          </a:prstGeom>
          <a:solidFill>
            <a:srgbClr val="E9EE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71600" y="57607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TÍCH HỢP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834640" y="56875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VNPay · Ollama AI · SMTP/Nodemailer · Trình duyệt (thiết bị tin cậy, microphone, Web Worker)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 vực công khai: khám phá trước khi đăng nhập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KHÁCH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/courses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008376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61104" y="1078992"/>
            <a:ext cx="12115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097280"/>
            <a:ext cx="10652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/top-students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Giúp khách hiểu giá trị hệ thống, tìm khóa học phù hợp và chuyển đổi thành người dùng đăng ký.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khóa học và giảng viên nổi bật trên trang chủ.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kiếm, lọc ngôn ngữ, trình độ, loại khóa và sắp xếp giá.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chi tiết để xem chương, bài học, test, đánh giá và học phí.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hồ sơ giảng viên, bảng xếp hạng và trang giới thiệu.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Truy cập trang công khai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/ lọc khóa học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chi tiết &amp; đánh giá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mua hoặc học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thống yêu cầu đăng nhập</a:t>
            </a:r>
            <a:endParaRPr lang="en-US" sz="1160" dirty="0"/>
          </a:p>
        </p:txBody>
      </p:sp>
      <p:sp>
        <p:nvSpPr>
          <p:cNvPr id="58" name="Shape 56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sang đăng ký / đăng nhập</a:t>
            </a:r>
            <a:endParaRPr lang="en-US" sz="1160" dirty="0"/>
          </a:p>
        </p:txBody>
      </p:sp>
      <p:sp>
        <p:nvSpPr>
          <p:cNvPr id="63" name="Shape 61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hiển thị khóa ACTIVE; khóa chưa công khai chỉ chủ sở hữu hoặc admin được xem trước.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khoản, xác thực và hồ sơ cá nhân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NGƯỜI DÙNG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133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/auth/register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9280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/auth/login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145536" y="1078992"/>
            <a:ext cx="17602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097280"/>
            <a:ext cx="16139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/auth/forgot-password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15484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8636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/profile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danh tính an toàn, xác thực email và chỉ cho phép một thiết bị có phiên đăng nhập hoạt động.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ký bằng tên, email, mật khẩu mạnh và OTP 6 số.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nhập; hệ thống chặn email chưa xác thực hoặc tài khoản bị khóa.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Quên mật khẩu qua OTP mà không tiết lộ email có tồn tại.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bị lạ phải xác nhận qua liên kết email trong 15 phút.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bị đã xác nhận được ghi nhớ; đăng nhập mới thu hồi phiên cũ.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email + mật khẩu</a:t>
            </a:r>
            <a:endParaRPr lang="en-US" sz="1160" dirty="0"/>
          </a:p>
        </p:txBody>
      </p:sp>
      <p:sp>
        <p:nvSpPr>
          <p:cNvPr id="42" name="Shape 40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tài khoản / rate limit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diện thiết bị tin cậy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bị lạ → gửi email</a:t>
            </a:r>
            <a:endParaRPr lang="en-US" sz="1160" dirty="0"/>
          </a:p>
        </p:txBody>
      </p:sp>
      <p:sp>
        <p:nvSpPr>
          <p:cNvPr id="56" name="Shape 54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xác nhận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1 session, thu hồi session cũ</a:t>
            </a:r>
            <a:endParaRPr lang="en-US" sz="1160" dirty="0"/>
          </a:p>
        </p:txBody>
      </p:sp>
      <p:sp>
        <p:nvSpPr>
          <p:cNvPr id="66" name="Shape 64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scrypt + salt, HMAC token gắn session, trusted-device cookie, authVersion và chỉ một phiên hoạt động.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học viên và “Khóa học của tôi”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/my-courses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học viên biết đang học gì, tiến độ ra sao và hành động tiếp theo cần thực hiện.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tiến độ trung bình, khóa đang học và khóa đã hoàn thành.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Tiếp tục đúng bài học gần nhất từ dashboard.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hoạt động 7 ngày, test gần đây và điểm AI còn lại.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“Khóa học của tôi” để lọc đang học / hoàn thành.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quyền học bị tạm khóa khi hoàn tiền đang chờ xử lý.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nhập STUDENT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Tải enrollment &amp; tiến độ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hợp hoạt động 7 ngày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hành động tiếp theo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khóa cần tiếp tục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 vào màn hình học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 viên có thể dùng chế độ học thử; enrollment đang hoàn tiền sẽ bị tạm khóa quyền học.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khóa học và thanh toán trực tiếp qua VNPay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2115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0652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/courses/[id]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24228" y="107899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7380" y="1097280"/>
            <a:ext cx="181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/api/courses/[id]/enroll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899916" y="1078992"/>
            <a:ext cx="17602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3068" y="1097280"/>
            <a:ext cx="16139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/api/payments/vnpay-*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danh khóa miễn phí ngay; với khóa trả phí, tạo thanh toán VNPay và chỉ cấp quyền học sau khi xác thực thành công.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khóa học từ marketplace và nhấn mua / đăng ký.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Khóa miễn phí được ghi danh ngay; khóa trả phí chuyển sang VNPay.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tất giao dịch rồi quay lại website.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thành công, khóa xuất hiện trong “Khóa học của tôi”.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Doanh thu giảng viên được ghi nhận theo tỷ lệ 70/30.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quyền &amp; giá khóa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Payment PENDING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Ký tham số VNPay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VNPay return + IPN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Xác thực chữ ký / số tiền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Order + Enrollment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Mã giao dịch duy nhất, chống ghi nhận lặp; hệ thống hiện không còn ví VND nội bộ.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bài và xác minh tiến độ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/student/hoc-bai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029968" y="107899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97280"/>
            <a:ext cx="2093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/api/learning/lessons/[id]/*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tiến độ thật, hạn chế đánh dấu hoàn thành giả và mở bài test khi hoàn tất 100% bài học.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chương và bài học theo thứ tự trong khóa đã ghi danh.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không video: học tối thiểu 3 phút trước khi hoàn thành.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có video: xem liên tục, heartbeat và không tua vượt phần đã xem.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bài chưa học / đang học / đã hoàn thành.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Đạt 100% thì chuyển sang bài test của khóa.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enrollment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nhận bắt đầu bài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thời gian / video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Máy chủ xác minh điều kiện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dấu lesson hoàn thành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lại % và mở test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cần heartbeat mới, xem ≥90%, đến gần cuối và không vi phạm tua; refund pending chặn truy cập.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test → kết quả → chứng nhận → đánh giá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133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/student/tests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92808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/student/results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19856" y="107899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097280"/>
            <a:ext cx="2414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/student/tests/[id]/result/[attemptId]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đầu ra khóa học, lưu lịch sử và chỉ công nhận hoàn thành khi đạt ngưỡng cấu hình.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test COURSE hoặc PUBLIC_PRACTICE đủ điều kiện.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Làm câu trắc nghiệm, đúng/sai, điền, tự luận hoặc speaking.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đồng hồ; hệ thống tự nộp khi hết giờ.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điểm, đáp án, tiêu chí AI và gợi ý cải thiện.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đạt COURSE test: nhận chứng nhận và mở quyền đánh giá.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đã học 100%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lượt thi có token ký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đáp án &amp; đếm giờ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Chấm tự động + AI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attempt &amp; kết quả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Đạt → chứng nhận / review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điểm câu hỏi phải bằng 100; lưu từng attempt; AI feedback chi tiết cần điểm AI với Student/Teacher.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AI, Speaking AI và điểm dùng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 / GIẢNG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6230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4767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/student/writing-ai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235708" y="10789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8860" y="1097280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/student/speaking-ai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037076" y="1078992"/>
            <a:ext cx="134874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0228" y="1097280"/>
            <a:ext cx="12024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/student/wallet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95544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/student/rewards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phép luyện kỹ năng bằng AI theo nhiều ngôn ngữ; tách chế độ chấm điểm và nhận xét chi tiết có tính phí điểm.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ngôn ngữ, task/chủ đề và tạo đề AI.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Writing: nhập bài; Speaking: ghi âm và tạo transcript.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chỉ xem điểm hoặc nhận xét chi tiết.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rubric, lỗi, điểm mạnh/yếu, gợi ý và bài mẫu.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điểm AI trực tiếp qua VNPay; xem lịch sử cộng/trừ.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prompt / topic</a:t>
            </a:r>
            <a:endParaRPr lang="en-US" sz="1160" dirty="0"/>
          </a:p>
        </p:txBody>
      </p:sp>
      <p:sp>
        <p:nvSpPr>
          <p:cNvPr id="42" name="Shape 40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nộp bài / audio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dữ liệu đầu vào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đánh giá theo rubric</a:t>
            </a:r>
            <a:endParaRPr lang="en-US" sz="1160" dirty="0"/>
          </a:p>
        </p:txBody>
      </p:sp>
      <p:sp>
        <p:nvSpPr>
          <p:cNvPr id="56" name="Shape 54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Trừ 3 hoặc 7 điểm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AiAssessment &amp; kết quả</a:t>
            </a:r>
            <a:endParaRPr lang="en-US" sz="1160" dirty="0"/>
          </a:p>
        </p:txBody>
      </p:sp>
      <p:sp>
        <p:nvSpPr>
          <p:cNvPr id="66" name="Shape 64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chi tiết: 3 điểm; Speaking chi tiết: 7 điểm; Admin miễn phí; giá điểm mặc định 1.000 VND.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tiền và báo cáo chất lượng khóa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HỌC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/my-courses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6230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14767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/api/course-refunds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88436" y="1078992"/>
            <a:ext cx="16230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1588" y="1097280"/>
            <a:ext cx="14767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/api/course-reports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vệ học viên bằng quy trình hoàn tiền có điều kiện và kênh báo cáo nội dung/chất lượng.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Gửi hoàn tiền từ “Khóa học của tôi” và nhập lý do.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khóa trả phí, trong 7 ngày, tiến độ không quá 50%.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Quyền học tạm khóa ngay khi yêu cầu chờ xử lý.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cáo toàn khóa hoặc một bài học, chọn nhóm vấn đề.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kết quả qua thông báo hệ thống.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viên gửi yêu cầu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điều kiện &amp; chống spam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Tạm khóa quyền học / tạo report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báo admin / giảng viên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xử lý &amp; ghi chú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lại hoặc hủy quyền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giao dịch chỉ một refund; báo cáo giới hạn 5 lần trong cửa sổ chống spam và cần xác nhận trung thực.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ký giảng viên và kỳ thi bàn giấy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ỨNG VIÊN GIẢNG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7602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6139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/teacher-registration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72868" y="1078992"/>
            <a:ext cx="21717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6020" y="1097280"/>
            <a:ext cx="20253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/api/teacher-applications/*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bố kỳ thi trực tiếp, nhận hồ sơ đúng thời hạn và để admin duyệt kết quả sau kỳ thi bàn giấy.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thông báo, địa điểm cố định và thời gian mở/đóng đăng ký.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ngôn ngữ giảng dạy và tải 1–3 chứng chỉ.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ký trực tuyến trong khoảng thời gian cho phép.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Tham dự kỳ thi trên giấy tại địa điểm đã công bố.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trạng thái hồ sơ chờ duyệt / đã duyệt / từ chối.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chọn địa điểm đã lưu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thời gian đăng ký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viên nộp hồ sơ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 trực tiếp trên giấy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đối chiếu kết quả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 → TEACHER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còn đề thi, chấm AI, camera, fullscreen, autosave hoặc anti-cheat trên hệ thống.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khóa học, chương và bài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GIẢNG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/teacher/courses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82696" y="1078992"/>
            <a:ext cx="21717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97280"/>
            <a:ext cx="20253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/teacher/courses/[courseId]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 viên tạo và vận hành nội dung khóa học trong phạm vi ngôn ngữ đã được admin phê duyệt.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số khóa, học viên, doanh thu và báo cáo gần đây.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Tạo/sửa khóa: mô tả, giá, ngôn ngữ, level, category, thumbnail.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chương và bài học; sắp xếp thứ tự; upload video.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mức sẵn sàng trước khi gửi công khai.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trạng thái ACTIVE / PENDING / LOCKED / REJECTED.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bản nháp khóa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metadata &amp; thumbnail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module / lesson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ngôn ngữ &amp; nội dung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Auto-approve hoặc chờ duyệt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→ bán / giảng dạy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Khóa có học viên không xóa vật lý ngay; chuyển PENDING_DELETE để admin duyệt.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test, học viên và báo cáo khóa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GIẢNG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133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/teacher/tests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892808" y="1078992"/>
            <a:ext cx="14859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97280"/>
            <a:ext cx="13395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/teacher/students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88436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1588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/teacher/reports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đầu ra khóa học, theo dõi người học và phản hồi các vấn đề chất lượng thuộc khóa mình phụ trách.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một COURSE test cho mỗi khóa và cấu hình điểm đạt/thời gian.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Thêm câu hỏi, đáp án, audio, tài liệu; bảo đảm tổng điểm 100.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học viên theo tên, email hoặc khóa học.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báo cáo, chuyển sang IN_REVIEW và khắc phục nội dung.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khóa bị báo cáo nhiều trên dashboard.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khóa sở hữu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test &amp; câu hỏi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cấu trúc / 100 điểm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viên làm bài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học viên &amp; kết quả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report → xem xét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 viên chỉ thao tác khóa thuộc quyền sở hữu; admin mới có quyền quyết định cuối các báo cáo toàn hệ thống.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Doanh thu, tài khoản nhận tiền và khiếu nại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GIẢNG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/teacher/revenue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029968" y="1078992"/>
            <a:ext cx="21717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97280"/>
            <a:ext cx="20253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/api/teacher/bank-account/*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11396" y="1078992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4548" y="1097280"/>
            <a:ext cx="2368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/api/teacher/revenue-withdrawals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đúng doanh thu khả dụng, xác minh tài khoản ngân hàng và quản lý vòng đời rút tiền.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doanh số, phần hưởng 70%, tiền khả dụng và tiền đang giữ.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Khai báo tài khoản ngân hàng và xác thực OTP qua email.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yêu cầu rút không vượt doanh thu khả dụng.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PENDING → APPROVED → PAID/COMPLETED.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chưa nhận/sai tiền, gửi một khiếu nại kèm bằng chứng.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doanh thu hợp lệ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Trừ refund &amp; khoản đang giữ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xác minh ngân hàng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withdrawal transaction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duyệt / chuyển tiền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Khiếu nại nếu có sai lệch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Serializable, snapshot tài khoản, audit IP/device; khiếu nại chỉ mở sau PAID/COMPLETED.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người dùng và các luồng phê duyệt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QUẢN TRỊ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/api/admin/users/*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19856" y="1078992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097280"/>
            <a:ext cx="2414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/api/admin/teacher-applications/*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089904" y="107899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09728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/api/admin/course-approval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quyền truy cập và chất lượng cung ứng trước khi giảng viên hoặc khóa học đi vào hoạt động.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user, đổi role, khóa/mở tài khoản theo quy tắc an toàn.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hồ sơ, chứng chỉ và đối chiếu kết quả kỳ thi bàn giấy.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địa điểm thi cố định; thông báo tự kèm địa chỉ và liên hệ.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Mời giảng viên qua email, tên và ngôn ngữ giảng dạy.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Duyệt/từ chối ứng viên; duyệt sẽ nâng role TEACHER.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749808" y="510235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1069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8992" y="507492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trước khóa chờ duyệt hoặc yêu cầu xóa.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menu chức năng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địa điểm / gửi lời mời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Cấu hình lịch hoặc đặt mật khẩu</a:t>
            </a:r>
            <a:endParaRPr lang="en-US" sz="1160" dirty="0"/>
          </a:p>
        </p:txBody>
      </p:sp>
      <p:sp>
        <p:nvSpPr>
          <p:cNvPr id="55" name="Shape 53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 hoặc tạo TEACHER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Gắn ngôn ngữ giảng dạy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báo cho người liên quan</a:t>
            </a:r>
            <a:endParaRPr lang="en-US" sz="1160" dirty="0"/>
          </a:p>
        </p:txBody>
      </p:sp>
      <p:sp>
        <p:nvSpPr>
          <p:cNvPr id="69" name="Shape 67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cho tự khóa; không khóa/hạ quyền admin hoạt động cuối cùng; hạ quyền teacher sẽ khóa khóa ACTIVE.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tiền, rút tiền, báo cáo và cấu hình nghiệp vụ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QUẢN TRỊ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/admin?tab=refunds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167128" y="107899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97280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/admin?tab=withdrawals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05656" y="107899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1097280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/admin?tab=reports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ngoại lệ tài chính, khiếu nại và chất lượng nội dung; đồng thời điều khiển các chính sách hệ thống.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Duyệt/từ chối refund và ghi chú xử lý ngoài hệ thống.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withdrawal, duyệt, xác nhận đã chuyển hoặc từ chối.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bằng chứng và giải quyết khiếu nại rút tiền.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Xử lý report theo PENDING / IN_REVIEW / RESOLVED / REJECTED.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Bật/tắt đăng ký giảng viên và tự động duyệt khóa.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hàng đợi theo tab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Lọc theo trạng thái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tiền / tiến độ / bằng chứng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 quyết định &amp; ghi chú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Cập nhật quyền / trạng thái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Gửi notification / email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Luôn kiểm tra doanh thu hợp lệ trước rút; từ chối refund phải mở lại quyền học; quyết định được lưu vết.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TRANG / CHỨC NĂNG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quản trị và xuất báo cáo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QUẢN TRỊ VIÊN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/admin?tab=analytics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04288" y="10789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97280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/api/admin/analytics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1527048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E8EEF7"/>
          </a:solidFill>
          <a:ln w="10160">
            <a:solidFill>
              <a:srgbClr val="D6E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1609344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Biến dữ liệu vận hành thành chỉ số ra quyết định theo khoảng thời gian linh hoạt.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373075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sử dụng / chức năng chính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6207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666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hôm nay, 7/30 ngày, tuần, tháng, quý, năm hoặc tùy chỉnh.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331012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147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8992" y="328269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user, khóa học, ghi danh và tỷ lệ hoàn thành.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375818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627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73075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doanh thu, hoa hồng, AI points, refund và withdrawal.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206240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108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41788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test, AI, email, lời mời và report khóa học.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49808" y="4654296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6588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" y="462686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xếp hạng và xuất CSV / XLSX / PDF.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443984" y="2395728"/>
            <a:ext cx="7214616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43984" y="2395728"/>
            <a:ext cx="64008" cy="3401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23744"/>
            <a:ext cx="686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trình nghiệp vụ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0016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464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khoảng thời gian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43216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tổng hợp dữ liệu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8988552" y="307238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285292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296265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701784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theo nhóm chỉ số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4700016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84648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Hiển thị KPI &amp; xu hướng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6729984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58584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0024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0024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43216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Drill-down bảng xếp hạng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8988552" y="4169664"/>
            <a:ext cx="182880" cy="237744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3950208"/>
            <a:ext cx="19933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08592" y="40599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08592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01784" y="4023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Xuất báo cáo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10469880" y="3566160"/>
            <a:ext cx="0" cy="38404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562856" y="4956048"/>
            <a:ext cx="6940296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1430">
            <a:solidFill>
              <a:srgbClr val="FED7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5193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KIỂM SOÁT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43600" y="502005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liệu tài chính tách doanh thu khóa, hoa hồng admin/teacher, refund và doanh thu mua điểm AI.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 TÍCH HỢP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tác nhân tích hợp và trách nhiệm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HỆ THỐNG NGOÀI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VNPay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008376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61104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APIs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1527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FinnCenter điều phối nghiệp vụ; hệ thống ngoài cung cấp thanh toán, AI, email và khả năng đa phương tiện.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121408"/>
            <a:ext cx="2487168" cy="34564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21408"/>
            <a:ext cx="64008" cy="3456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2494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VNPAY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59689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615184"/>
            <a:ext cx="1865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THANH TOÁN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9808" y="318211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1866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3154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Khóa học trả phí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666744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713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363931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điểm AI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49808" y="4151376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559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412394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+ IPN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749808" y="4636008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6405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460857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Ký / xác thực giao dịch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3419856" y="2121408"/>
            <a:ext cx="2487168" cy="34564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19856" y="2121408"/>
            <a:ext cx="64008" cy="3456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1024" y="22494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21024" y="259689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4176" y="2615184"/>
            <a:ext cx="1865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ĐỀ &amp; CHẤM AI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21024" y="318211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1024" y="31866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50208" y="3154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/ Speaking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3621024" y="366674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36713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50208" y="363931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tự luận trong test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3621024" y="4151376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1024" y="41559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50208" y="412394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 đa ngôn ngữ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3621024" y="4636008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21024" y="46405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950208" y="460857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khi tạo đề lỗi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6291072" y="2121408"/>
            <a:ext cx="2487168" cy="34564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91072" y="2121408"/>
            <a:ext cx="64008" cy="3456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22494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92240" y="259689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2615184"/>
            <a:ext cx="1865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NGHIỆP VỤ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92240" y="318211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1866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21424" y="3154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đăng ký / reset</a:t>
            </a:r>
            <a:endParaRPr lang="en-US" sz="1220" dirty="0"/>
          </a:p>
        </p:txBody>
      </p:sp>
      <p:sp>
        <p:nvSpPr>
          <p:cNvPr id="57" name="Shape 55"/>
          <p:cNvSpPr/>
          <p:nvPr/>
        </p:nvSpPr>
        <p:spPr>
          <a:xfrm>
            <a:off x="6492240" y="3666744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36713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21424" y="363931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Mời giảng viên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6492240" y="4151376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1559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821424" y="412394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Xác nhận thiết bị lạ</a:t>
            </a:r>
            <a:endParaRPr lang="en-US" sz="1220" dirty="0"/>
          </a:p>
        </p:txBody>
      </p:sp>
      <p:sp>
        <p:nvSpPr>
          <p:cNvPr id="63" name="Shape 61"/>
          <p:cNvSpPr/>
          <p:nvPr/>
        </p:nvSpPr>
        <p:spPr>
          <a:xfrm>
            <a:off x="6492240" y="4636008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46405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21424" y="460857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 hồ sơ / chứng nhận</a:t>
            </a:r>
            <a:endParaRPr lang="en-US" sz="1220" dirty="0"/>
          </a:p>
        </p:txBody>
      </p:sp>
      <p:sp>
        <p:nvSpPr>
          <p:cNvPr id="66" name="Shape 64"/>
          <p:cNvSpPr/>
          <p:nvPr/>
        </p:nvSpPr>
        <p:spPr>
          <a:xfrm>
            <a:off x="9162288" y="2121408"/>
            <a:ext cx="2487168" cy="34564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1EC"/>
            </a:solidFill>
            <a:prstDash val="solid"/>
          </a:ln>
          <a:effectLst>
            <a:outerShdw sx="100000" sy="100000" kx="0" ky="0" algn="bl" rotWithShape="0" blurRad="16510" dist="50800" dir="2700000">
              <a:srgbClr val="B6C2D2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162288" y="2121408"/>
            <a:ext cx="64008" cy="3456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63456" y="22494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DUYỆT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363456" y="259689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36608" y="2615184"/>
            <a:ext cx="18653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BỊ &amp; MEDIA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363456" y="318211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63456" y="31866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692640" y="3154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Trusted-device cookie</a:t>
            </a:r>
            <a:endParaRPr lang="en-US" sz="1220" dirty="0"/>
          </a:p>
        </p:txBody>
      </p:sp>
      <p:sp>
        <p:nvSpPr>
          <p:cNvPr id="74" name="Shape 72"/>
          <p:cNvSpPr/>
          <p:nvPr/>
        </p:nvSpPr>
        <p:spPr>
          <a:xfrm>
            <a:off x="9363456" y="366674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63456" y="36713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692640" y="363931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session hoạt động</a:t>
            </a:r>
            <a:endParaRPr lang="en-US" sz="1220" dirty="0"/>
          </a:p>
        </p:txBody>
      </p:sp>
      <p:sp>
        <p:nvSpPr>
          <p:cNvPr id="77" name="Shape 75"/>
          <p:cNvSpPr/>
          <p:nvPr/>
        </p:nvSpPr>
        <p:spPr>
          <a:xfrm>
            <a:off x="9363456" y="415137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63456" y="41559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692640" y="412394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 / MediaRecorder</a:t>
            </a:r>
            <a:endParaRPr lang="en-US" sz="1220" dirty="0"/>
          </a:p>
        </p:txBody>
      </p:sp>
      <p:sp>
        <p:nvSpPr>
          <p:cNvPr id="80" name="Shape 78"/>
          <p:cNvSpPr/>
          <p:nvPr/>
        </p:nvSpPr>
        <p:spPr>
          <a:xfrm>
            <a:off x="9363456" y="463600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363456" y="46405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9692640" y="460857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Worker transcript</a:t>
            </a:r>
            <a:endParaRPr lang="en-US" sz="1220" dirty="0"/>
          </a:p>
        </p:txBody>
      </p:sp>
      <p:sp>
        <p:nvSpPr>
          <p:cNvPr id="83" name="Shape 81"/>
          <p:cNvSpPr/>
          <p:nvPr/>
        </p:nvSpPr>
        <p:spPr>
          <a:xfrm>
            <a:off x="1188720" y="5797296"/>
            <a:ext cx="9784080" cy="438912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17320" y="5870448"/>
            <a:ext cx="928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Nguyên tắc: FinnCenter chỉ cập nhật trạng thái nghiệp vụ sau khi đã xác thực phản hồi từ hệ thống tích hợp.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HỢP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quy trình nghiệp vụ xuyên suốt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55480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28632" y="40233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 NHÂN · NHIỀU TÁC NHÂN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tập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755648" y="1078992"/>
            <a:ext cx="14859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13395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Cung ứng nội dung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51276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4428" y="109728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chính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93852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TẬP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933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780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khóa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3383280" y="1929384"/>
            <a:ext cx="164592" cy="219456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35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50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782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Thanh toán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4983480" y="1929384"/>
            <a:ext cx="164592" cy="219456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37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784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100%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583680" y="1929384"/>
            <a:ext cx="164592" cy="219456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939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54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786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Làm test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8183880" y="1929384"/>
            <a:ext cx="164592" cy="219456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856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788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Chứng nhận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9784080" y="1929384"/>
            <a:ext cx="164592" cy="219456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94392" y="1664208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85832" y="177393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85832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79024" y="173736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548640" y="33192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3337560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CUNG ỨNG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933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848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848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4780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báo / mời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3383280" y="3328416"/>
            <a:ext cx="164592" cy="219456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935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850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850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782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ký hồ sơ</a:t>
            </a:r>
            <a:endParaRPr lang="en-US" sz="1160" dirty="0"/>
          </a:p>
        </p:txBody>
      </p:sp>
      <p:sp>
        <p:nvSpPr>
          <p:cNvPr id="54" name="Shape 52"/>
          <p:cNvSpPr/>
          <p:nvPr/>
        </p:nvSpPr>
        <p:spPr>
          <a:xfrm>
            <a:off x="4983480" y="3328416"/>
            <a:ext cx="164592" cy="219456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37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852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784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 bàn giấy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6583680" y="3328416"/>
            <a:ext cx="164592" cy="219456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939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854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54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786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duyệt</a:t>
            </a:r>
            <a:endParaRPr lang="en-US" sz="1160" dirty="0"/>
          </a:p>
        </p:txBody>
      </p:sp>
      <p:sp>
        <p:nvSpPr>
          <p:cNvPr id="64" name="Shape 62"/>
          <p:cNvSpPr/>
          <p:nvPr/>
        </p:nvSpPr>
        <p:spPr>
          <a:xfrm>
            <a:off x="8183880" y="3328416"/>
            <a:ext cx="164592" cy="219456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941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856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856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788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khóa</a:t>
            </a:r>
            <a:endParaRPr lang="en-US" sz="1160" dirty="0"/>
          </a:p>
        </p:txBody>
      </p:sp>
      <p:sp>
        <p:nvSpPr>
          <p:cNvPr id="69" name="Shape 67"/>
          <p:cNvSpPr/>
          <p:nvPr/>
        </p:nvSpPr>
        <p:spPr>
          <a:xfrm>
            <a:off x="9784080" y="3328416"/>
            <a:ext cx="164592" cy="219456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94392" y="3063240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85832" y="317296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85832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479024" y="3136392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Vận hành</a:t>
            </a:r>
            <a:endParaRPr lang="en-US" sz="1160" dirty="0"/>
          </a:p>
        </p:txBody>
      </p:sp>
      <p:sp>
        <p:nvSpPr>
          <p:cNvPr id="74" name="Shape 72"/>
          <p:cNvSpPr/>
          <p:nvPr/>
        </p:nvSpPr>
        <p:spPr>
          <a:xfrm>
            <a:off x="548640" y="471830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4736592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TÀI CHÍNH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9933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848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848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4780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sinh doanh thu</a:t>
            </a:r>
            <a:endParaRPr lang="en-US" sz="1160" dirty="0"/>
          </a:p>
        </p:txBody>
      </p:sp>
      <p:sp>
        <p:nvSpPr>
          <p:cNvPr id="80" name="Shape 78"/>
          <p:cNvSpPr/>
          <p:nvPr/>
        </p:nvSpPr>
        <p:spPr>
          <a:xfrm>
            <a:off x="3383280" y="4727448"/>
            <a:ext cx="164592" cy="219456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935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850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850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0782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70/30</a:t>
            </a:r>
            <a:endParaRPr lang="en-US" sz="1160" dirty="0"/>
          </a:p>
        </p:txBody>
      </p:sp>
      <p:sp>
        <p:nvSpPr>
          <p:cNvPr id="85" name="Shape 83"/>
          <p:cNvSpPr/>
          <p:nvPr/>
        </p:nvSpPr>
        <p:spPr>
          <a:xfrm>
            <a:off x="4983480" y="4727448"/>
            <a:ext cx="164592" cy="219456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1937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852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852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6784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Xác minh ngân hàng</a:t>
            </a:r>
            <a:endParaRPr lang="en-US" sz="1160" dirty="0"/>
          </a:p>
        </p:txBody>
      </p:sp>
      <p:sp>
        <p:nvSpPr>
          <p:cNvPr id="90" name="Shape 88"/>
          <p:cNvSpPr/>
          <p:nvPr/>
        </p:nvSpPr>
        <p:spPr>
          <a:xfrm>
            <a:off x="6583680" y="4727448"/>
            <a:ext cx="164592" cy="219456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939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854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854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2786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Yêu cầu rút</a:t>
            </a:r>
            <a:endParaRPr lang="en-US" sz="1160" dirty="0"/>
          </a:p>
        </p:txBody>
      </p:sp>
      <p:sp>
        <p:nvSpPr>
          <p:cNvPr id="95" name="Shape 93"/>
          <p:cNvSpPr/>
          <p:nvPr/>
        </p:nvSpPr>
        <p:spPr>
          <a:xfrm>
            <a:off x="8183880" y="4727448"/>
            <a:ext cx="164592" cy="219456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941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856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856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8788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chuyển</a:t>
            </a:r>
            <a:endParaRPr lang="en-US" sz="1160" dirty="0"/>
          </a:p>
        </p:txBody>
      </p:sp>
      <p:sp>
        <p:nvSpPr>
          <p:cNvPr id="100" name="Shape 98"/>
          <p:cNvSpPr/>
          <p:nvPr/>
        </p:nvSpPr>
        <p:spPr>
          <a:xfrm>
            <a:off x="9784080" y="4727448"/>
            <a:ext cx="164592" cy="219456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94392" y="4462272"/>
            <a:ext cx="13533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085832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08583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0479024" y="453542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Khiếu nại</a:t>
            </a:r>
            <a:endParaRPr lang="en-US" sz="1160" dirty="0"/>
          </a:p>
        </p:txBody>
      </p:sp>
      <p:sp>
        <p:nvSpPr>
          <p:cNvPr id="105" name="Shape 103"/>
          <p:cNvSpPr/>
          <p:nvPr/>
        </p:nvSpPr>
        <p:spPr>
          <a:xfrm>
            <a:off x="685800" y="5779008"/>
            <a:ext cx="10835640" cy="411480"/>
          </a:xfrm>
          <a:prstGeom prst="roundRect">
            <a:avLst>
              <a:gd name="adj" fmla="val 8889"/>
            </a:avLst>
          </a:prstGeom>
          <a:solidFill>
            <a:srgbClr val="E8EE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60120" y="5843016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quy trình đều có trạng thái, điều kiện chuyển bước, thông báo và log để truy vết.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Kịch bản demo đề xuất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6656" y="1143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12–15 phút · đi theo một hành trình hoàn chỉnh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13263B"/>
          </a:solidFill>
          <a:ln w="12700">
            <a:solidFill>
              <a:srgbClr val="2B3C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khóa → xem chi tiết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51176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17243A"/>
          </a:solidFill>
          <a:ln w="12700">
            <a:solidFill>
              <a:srgbClr val="2B3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700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Học viên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642616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Thanh toán → học → test → kết quả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319272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13263B"/>
          </a:solidFill>
          <a:ln w="12700">
            <a:solidFill>
              <a:srgbClr val="2B3C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381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4107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viên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41071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lịch → nộp hồ sơ → thi bàn giấy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087368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17243A"/>
          </a:solidFill>
          <a:ln w="12700">
            <a:solidFill>
              <a:srgbClr val="2B3C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 viên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178808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khóa → nội dung →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855464"/>
            <a:ext cx="6492240" cy="566928"/>
          </a:xfrm>
          <a:prstGeom prst="roundRect">
            <a:avLst>
              <a:gd name="adj" fmla="val 8065"/>
            </a:avLst>
          </a:prstGeom>
          <a:solidFill>
            <a:srgbClr val="13263B"/>
          </a:solidFill>
          <a:ln w="12700">
            <a:solidFill>
              <a:srgbClr val="2B3C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743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94690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94690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Duyệt → xử lý tài chính → analytics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26680" y="123444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142238"/>
          </a:solidFill>
          <a:ln w="1651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1627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chốt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65008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FinnCenter không chỉ cung cấp nội dung học. Hệ thống quản lý trọn vòng đời: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74152" y="3136392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0723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E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 cung giảng viên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74152" y="3575304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511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E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 – học – thi – chứng nhận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74152" y="4014216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9502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E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luyện tập đa ngôn ngữ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74152" y="44531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E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thanh toán và kiểm soát vận hành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65008" y="4892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CẢM ƠN · Q&amp;A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" y="6327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FinnCenter · Đồ án tốt nghiệp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FinnCenter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FinnCenter — Tác nhân, chức năng và quy trình nghiệp vụ</dc:title>
  <dc:subject>Tác nhân, chức năng và quy trình nghiệp vụ FinnCenter</dc:subject>
  <dc:creator>FinnCenter</dc:creator>
  <cp:lastModifiedBy>FinnCenter</cp:lastModifiedBy>
  <cp:revision>1</cp:revision>
  <dcterms:created xsi:type="dcterms:W3CDTF">2026-08-05T12:37:58Z</dcterms:created>
  <dcterms:modified xsi:type="dcterms:W3CDTF">2026-08-05T12:37:58Z</dcterms:modified>
</cp:coreProperties>
</file>